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6" r:id="rId2"/>
    <p:sldMasterId id="2147483708" r:id="rId3"/>
  </p:sldMasterIdLst>
  <p:sldIdLst>
    <p:sldId id="256" r:id="rId4"/>
    <p:sldId id="258" r:id="rId5"/>
    <p:sldId id="259" r:id="rId6"/>
    <p:sldId id="257" r:id="rId7"/>
    <p:sldId id="260" r:id="rId8"/>
    <p:sldId id="261"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A8C1A2-9855-41D6-924A-394B28482241}">
          <p14:sldIdLst>
            <p14:sldId id="256"/>
            <p14:sldId id="258"/>
            <p14:sldId id="259"/>
            <p14:sldId id="257"/>
            <p14:sldId id="260"/>
            <p14:sldId id="261"/>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hil" initials="s" lastIdx="1" clrIdx="0">
    <p:extLst>
      <p:ext uri="{19B8F6BF-5375-455C-9EA6-DF929625EA0E}">
        <p15:presenceInfo xmlns:p15="http://schemas.microsoft.com/office/powerpoint/2012/main" userId="sahi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DF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2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153280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325850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94613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523360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63C155-C1AF-49FB-A13C-29B1AD799E90}" type="datetimeFigureOut">
              <a:rPr lang="en-IN" smtClean="0"/>
              <a:t>23-11-2019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886438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63C155-C1AF-49FB-A13C-29B1AD799E90}" type="datetimeFigureOut">
              <a:rPr lang="en-IN" smtClean="0"/>
              <a:t>23-11-2019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931823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3C155-C1AF-49FB-A13C-29B1AD799E90}" type="datetimeFigureOut">
              <a:rPr lang="en-IN" smtClean="0"/>
              <a:t>23-11-2019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758186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675280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4239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157078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521852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289130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471106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772436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49709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558030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162874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C6C6-BF82-41B6-998A-87FF1809DE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93C55E-A4AE-45D5-ABA8-4EA9F0785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8D1CF4-7B7B-4C25-AB92-EA35606BFDE5}"/>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a:extLst>
              <a:ext uri="{FF2B5EF4-FFF2-40B4-BE49-F238E27FC236}">
                <a16:creationId xmlns:a16="http://schemas.microsoft.com/office/drawing/2014/main" id="{A5C3E763-D168-4ED2-BE6F-1B2B9F4D65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FB0DB2-1DF3-4073-BFDB-0E2B64A297A6}"/>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40376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60C30-6EF6-4726-B050-C57FC8BF23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1B0FCE-2000-4A31-B9BE-8456563C6F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3B9FDC-5ABC-4AD9-905B-6FCA2D605123}"/>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a:extLst>
              <a:ext uri="{FF2B5EF4-FFF2-40B4-BE49-F238E27FC236}">
                <a16:creationId xmlns:a16="http://schemas.microsoft.com/office/drawing/2014/main" id="{475920B5-5764-4929-A629-74D16EC3DC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260BA8-76E4-4FFD-ADA6-6E386C6EA743}"/>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9128108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88A2-D54A-42F9-9050-36C279D64A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B41EFB-2A96-4502-8FC5-C2D3EA241F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1D971B-67BA-4981-8DE9-6282C0DEEEC3}"/>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a:extLst>
              <a:ext uri="{FF2B5EF4-FFF2-40B4-BE49-F238E27FC236}">
                <a16:creationId xmlns:a16="http://schemas.microsoft.com/office/drawing/2014/main" id="{453D36BE-B432-4426-9306-EB2C2E800B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47C31-8291-486A-8847-7D689B2FB580}"/>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1039476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7771A-EE0A-4389-B604-CACAAEA753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960E8B-3AFA-4629-AEA1-290F8A4918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4DB98F-D18B-45C5-AB90-2D05B1FDE5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C4DC4F5-1302-4038-B0BF-184D01162445}"/>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a:extLst>
              <a:ext uri="{FF2B5EF4-FFF2-40B4-BE49-F238E27FC236}">
                <a16:creationId xmlns:a16="http://schemas.microsoft.com/office/drawing/2014/main" id="{D8E68B54-E9E8-4D3A-92E2-C7011D74BF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DDC16F-C272-4A4F-BD53-C7366D3A1B57}"/>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4293527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3A8C6-361F-4FE6-A02E-88C11BD60D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E5778C-1FCA-4910-8DCB-E648C26FEC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5863B-B749-4C3F-9272-9225F31B9F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F08283-A874-4B74-A2FF-4A591731EF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0C4DC8-F274-4C86-A4F6-7A78398CFC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B44CE5-02F2-4131-B557-F99412F188D4}"/>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8" name="Footer Placeholder 7">
            <a:extLst>
              <a:ext uri="{FF2B5EF4-FFF2-40B4-BE49-F238E27FC236}">
                <a16:creationId xmlns:a16="http://schemas.microsoft.com/office/drawing/2014/main" id="{1646A2C9-41D5-4B37-A429-B0F9583413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72F0BC-988E-4477-A98F-C0CB7C0EDA22}"/>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402435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60B28-35F9-41AE-8454-8586C25079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B4A26B-042D-4D7F-96A8-5EB5372FD8CD}"/>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4" name="Footer Placeholder 3">
            <a:extLst>
              <a:ext uri="{FF2B5EF4-FFF2-40B4-BE49-F238E27FC236}">
                <a16:creationId xmlns:a16="http://schemas.microsoft.com/office/drawing/2014/main" id="{34B705E0-80C0-462B-9EE7-290B97D3B4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C3B47D-C4CB-40C5-A3BC-B09EA3493EB4}"/>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206081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1FB106-0A88-4A59-977B-88C3A2492335}"/>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3" name="Footer Placeholder 2">
            <a:extLst>
              <a:ext uri="{FF2B5EF4-FFF2-40B4-BE49-F238E27FC236}">
                <a16:creationId xmlns:a16="http://schemas.microsoft.com/office/drawing/2014/main" id="{B59A3088-8F74-42BF-8D2A-CD633F0A37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6066B6-77F9-48DB-9FB1-8C00B291CACE}"/>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4740271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D60B-94D8-4CBB-951C-5BFCF3004D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E776AB-2AE2-4B1F-BD18-3BBD027CD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71BB3C-A3F9-4DA2-8BA2-825773507D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C2C26-06E2-4076-86D1-1522BD6E38AB}"/>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a:extLst>
              <a:ext uri="{FF2B5EF4-FFF2-40B4-BE49-F238E27FC236}">
                <a16:creationId xmlns:a16="http://schemas.microsoft.com/office/drawing/2014/main" id="{1F0DD76F-DA95-4F4C-B4FB-9A05C76E51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C90746-907B-453F-ADD5-60B19C2E5A6D}"/>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35661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78F1-BB84-4579-B954-E8AD3604DD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50D898-AD7F-4D7B-A0F0-123D5D21E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2C9804-0A83-4704-BA8E-3A94622F92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AE582-9F02-4158-ABFE-B1605E444B56}"/>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a:extLst>
              <a:ext uri="{FF2B5EF4-FFF2-40B4-BE49-F238E27FC236}">
                <a16:creationId xmlns:a16="http://schemas.microsoft.com/office/drawing/2014/main" id="{D0938744-CBD3-411D-93A6-D2E8C27D44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4A7CF6-8D37-41CF-BBF2-1ADB60DD15D2}"/>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518219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653D-7878-4D0D-B903-78FBA2224D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05A8E8-116F-47ED-8FEF-1F69D6100B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99A52E-94E8-4E78-9684-8A89ABC7D090}"/>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a:extLst>
              <a:ext uri="{FF2B5EF4-FFF2-40B4-BE49-F238E27FC236}">
                <a16:creationId xmlns:a16="http://schemas.microsoft.com/office/drawing/2014/main" id="{55631B6D-0A3F-4807-A915-D0DFCFF7BC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43050E-F2E0-435F-AC7F-552CF6C9A5BF}"/>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2102328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79077D-AFF6-4FFF-BC2E-70C10B0D16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4C468A-9E74-42D6-98DF-0BC704758D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909ED-1A0D-4718-BFCB-03ECA5037647}"/>
              </a:ext>
            </a:extLst>
          </p:cNvPr>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a:extLst>
              <a:ext uri="{FF2B5EF4-FFF2-40B4-BE49-F238E27FC236}">
                <a16:creationId xmlns:a16="http://schemas.microsoft.com/office/drawing/2014/main" id="{372BB530-A7A7-47F0-9F88-31F8AF16E0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D1B09-A447-44BA-B4BB-8242660C9FA1}"/>
              </a:ext>
            </a:extLst>
          </p:cNvPr>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4548321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650456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9249961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3430645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40554173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63C155-C1AF-49FB-A13C-29B1AD799E90}" type="datetimeFigureOut">
              <a:rPr lang="en-IN" smtClean="0"/>
              <a:t>23-11-2019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4780904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63C155-C1AF-49FB-A13C-29B1AD799E90}" type="datetimeFigureOut">
              <a:rPr lang="en-IN" smtClean="0"/>
              <a:t>23-11-2019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8686135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3C155-C1AF-49FB-A13C-29B1AD799E90}" type="datetimeFigureOut">
              <a:rPr lang="en-IN" smtClean="0"/>
              <a:t>23-11-2019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7573590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5906377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8289407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63C155-C1AF-49FB-A13C-29B1AD799E90}" type="datetimeFigureOut">
              <a:rPr lang="en-IN" smtClean="0"/>
              <a:t>23-11-2019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0197754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4835118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1970752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3936571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10790876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33533132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7434271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63C155-C1AF-49FB-A13C-29B1AD799E90}" type="datetimeFigureOut">
              <a:rPr lang="en-IN" smtClean="0"/>
              <a:t>23-11-2019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985B-D06F-4E57-A724-9BB7ED345F9B}" type="slidenum">
              <a:rPr lang="en-IN" smtClean="0"/>
              <a:t>‹#›</a:t>
            </a:fld>
            <a:endParaRPr lang="en-IN"/>
          </a:p>
        </p:txBody>
      </p:sp>
    </p:spTree>
    <p:extLst>
      <p:ext uri="{BB962C8B-B14F-4D97-AF65-F5344CB8AC3E}">
        <p14:creationId xmlns:p14="http://schemas.microsoft.com/office/powerpoint/2010/main" val="2927387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F263C155-C1AF-49FB-A13C-29B1AD799E90}" type="datetimeFigureOut">
              <a:rPr lang="en-IN" smtClean="0"/>
              <a:t>23-11-2019</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21E985B-D06F-4E57-A724-9BB7ED345F9B}" type="slidenum">
              <a:rPr lang="en-IN" smtClean="0"/>
              <a:t>‹#›</a:t>
            </a:fld>
            <a:endParaRPr lang="en-IN"/>
          </a:p>
        </p:txBody>
      </p:sp>
    </p:spTree>
    <p:extLst>
      <p:ext uri="{BB962C8B-B14F-4D97-AF65-F5344CB8AC3E}">
        <p14:creationId xmlns:p14="http://schemas.microsoft.com/office/powerpoint/2010/main" val="386253841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48872A-85CD-44DB-A697-67B6C0FEF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A9A2BE-39FB-447D-9A6C-DAA1BE3CC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1E7014-28CA-4C70-B2A8-6A15DA02CF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3C155-C1AF-49FB-A13C-29B1AD799E90}" type="datetimeFigureOut">
              <a:rPr lang="en-IN" smtClean="0"/>
              <a:t>23-11-2019</a:t>
            </a:fld>
            <a:endParaRPr lang="en-IN"/>
          </a:p>
        </p:txBody>
      </p:sp>
      <p:sp>
        <p:nvSpPr>
          <p:cNvPr id="5" name="Footer Placeholder 4">
            <a:extLst>
              <a:ext uri="{FF2B5EF4-FFF2-40B4-BE49-F238E27FC236}">
                <a16:creationId xmlns:a16="http://schemas.microsoft.com/office/drawing/2014/main" id="{C7D3C295-4B4D-4180-B049-842172DFCB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5958CA-15A3-4F15-B8CE-84D3A760F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E985B-D06F-4E57-A724-9BB7ED345F9B}" type="slidenum">
              <a:rPr lang="en-IN" smtClean="0"/>
              <a:t>‹#›</a:t>
            </a:fld>
            <a:endParaRPr lang="en-IN"/>
          </a:p>
        </p:txBody>
      </p:sp>
    </p:spTree>
    <p:extLst>
      <p:ext uri="{BB962C8B-B14F-4D97-AF65-F5344CB8AC3E}">
        <p14:creationId xmlns:p14="http://schemas.microsoft.com/office/powerpoint/2010/main" val="42194197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F263C155-C1AF-49FB-A13C-29B1AD799E90}" type="datetimeFigureOut">
              <a:rPr lang="en-IN" smtClean="0"/>
              <a:t>23-11-2019</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21E985B-D06F-4E57-A724-9BB7ED345F9B}" type="slidenum">
              <a:rPr lang="en-IN" smtClean="0"/>
              <a:t>‹#›</a:t>
            </a:fld>
            <a:endParaRPr lang="en-IN"/>
          </a:p>
        </p:txBody>
      </p:sp>
    </p:spTree>
    <p:extLst>
      <p:ext uri="{BB962C8B-B14F-4D97-AF65-F5344CB8AC3E}">
        <p14:creationId xmlns:p14="http://schemas.microsoft.com/office/powerpoint/2010/main" val="2208351936"/>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B5C6-47C6-42B9-80FE-EB8B7BB913D3}"/>
              </a:ext>
            </a:extLst>
          </p:cNvPr>
          <p:cNvSpPr>
            <a:spLocks noGrp="1"/>
          </p:cNvSpPr>
          <p:nvPr>
            <p:ph type="ctrTitle"/>
          </p:nvPr>
        </p:nvSpPr>
        <p:spPr>
          <a:xfrm>
            <a:off x="1757889" y="-864093"/>
            <a:ext cx="8676222" cy="3200400"/>
          </a:xfrm>
        </p:spPr>
        <p:txBody>
          <a:bodyPr/>
          <a:lstStyle/>
          <a:p>
            <a:r>
              <a:rPr lang="en-US" dirty="0"/>
              <a:t>Artificial Neural networks</a:t>
            </a:r>
            <a:endParaRPr lang="en-IN" dirty="0"/>
          </a:p>
        </p:txBody>
      </p:sp>
      <p:sp>
        <p:nvSpPr>
          <p:cNvPr id="3" name="Subtitle 2">
            <a:extLst>
              <a:ext uri="{FF2B5EF4-FFF2-40B4-BE49-F238E27FC236}">
                <a16:creationId xmlns:a16="http://schemas.microsoft.com/office/drawing/2014/main" id="{6D218485-E513-4F35-81CF-2439850B8D72}"/>
              </a:ext>
            </a:extLst>
          </p:cNvPr>
          <p:cNvSpPr>
            <a:spLocks noGrp="1"/>
          </p:cNvSpPr>
          <p:nvPr>
            <p:ph type="subTitle" idx="1"/>
          </p:nvPr>
        </p:nvSpPr>
        <p:spPr>
          <a:xfrm>
            <a:off x="1757889" y="2658862"/>
            <a:ext cx="8676222" cy="3839591"/>
          </a:xfrm>
        </p:spPr>
        <p:txBody>
          <a:bodyPr>
            <a:normAutofit fontScale="85000" lnSpcReduction="20000"/>
          </a:bodyPr>
          <a:lstStyle/>
          <a:p>
            <a:endParaRPr lang="en-US" sz="3200" dirty="0"/>
          </a:p>
          <a:p>
            <a:r>
              <a:rPr lang="en-US" sz="3900" dirty="0"/>
              <a:t>Identification of objects from images</a:t>
            </a:r>
          </a:p>
          <a:p>
            <a:endParaRPr lang="en-US" sz="3200" dirty="0"/>
          </a:p>
          <a:p>
            <a:pPr algn="r"/>
            <a:endParaRPr lang="en-US" sz="2000" dirty="0"/>
          </a:p>
          <a:p>
            <a:pPr algn="r"/>
            <a:endParaRPr lang="en-US" sz="2000" dirty="0"/>
          </a:p>
          <a:p>
            <a:pPr algn="r"/>
            <a:endParaRPr lang="en-US" sz="2000" dirty="0"/>
          </a:p>
          <a:p>
            <a:pPr algn="r"/>
            <a:r>
              <a:rPr lang="en-US" sz="2000" dirty="0"/>
              <a:t>TARIQ S – PES1201700961</a:t>
            </a:r>
          </a:p>
          <a:p>
            <a:pPr algn="r"/>
            <a:r>
              <a:rPr lang="en-US" sz="2000" dirty="0"/>
              <a:t>SAHIL F – PES1201701653</a:t>
            </a:r>
          </a:p>
          <a:p>
            <a:pPr algn="r"/>
            <a:r>
              <a:rPr lang="en-US" sz="2000" dirty="0"/>
              <a:t>BHUVAN M R – PES1201701823</a:t>
            </a:r>
          </a:p>
          <a:p>
            <a:endParaRPr lang="en-US" sz="3200" dirty="0"/>
          </a:p>
          <a:p>
            <a:endParaRPr lang="en-US" sz="3200" dirty="0"/>
          </a:p>
          <a:p>
            <a:endParaRPr lang="en-IN" sz="3200" dirty="0"/>
          </a:p>
        </p:txBody>
      </p:sp>
      <p:pic>
        <p:nvPicPr>
          <p:cNvPr id="5" name="Picture 4">
            <a:extLst>
              <a:ext uri="{FF2B5EF4-FFF2-40B4-BE49-F238E27FC236}">
                <a16:creationId xmlns:a16="http://schemas.microsoft.com/office/drawing/2014/main" id="{5E4FD31A-7122-40D1-8F24-38630934B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02068" cy="916383"/>
          </a:xfrm>
          <a:prstGeom prst="rect">
            <a:avLst/>
          </a:prstGeom>
        </p:spPr>
      </p:pic>
      <p:pic>
        <p:nvPicPr>
          <p:cNvPr id="7" name="Picture 6">
            <a:extLst>
              <a:ext uri="{FF2B5EF4-FFF2-40B4-BE49-F238E27FC236}">
                <a16:creationId xmlns:a16="http://schemas.microsoft.com/office/drawing/2014/main" id="{98543014-DDF7-44DD-8DA7-5C609C3B6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3696225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B5C6-47C6-42B9-80FE-EB8B7BB913D3}"/>
              </a:ext>
            </a:extLst>
          </p:cNvPr>
          <p:cNvSpPr>
            <a:spLocks noGrp="1"/>
          </p:cNvSpPr>
          <p:nvPr>
            <p:ph type="ctrTitle"/>
          </p:nvPr>
        </p:nvSpPr>
        <p:spPr>
          <a:xfrm>
            <a:off x="1757888" y="-1149288"/>
            <a:ext cx="8676222" cy="3200400"/>
          </a:xfrm>
        </p:spPr>
        <p:txBody>
          <a:bodyPr>
            <a:normAutofit/>
          </a:bodyPr>
          <a:lstStyle/>
          <a:p>
            <a:r>
              <a:rPr lang="en-US" sz="5400" b="1" dirty="0"/>
              <a:t>Problem Statement</a:t>
            </a:r>
            <a:endParaRPr lang="en-IN" sz="5400" b="1" dirty="0"/>
          </a:p>
        </p:txBody>
      </p:sp>
      <p:sp>
        <p:nvSpPr>
          <p:cNvPr id="3" name="Subtitle 2">
            <a:extLst>
              <a:ext uri="{FF2B5EF4-FFF2-40B4-BE49-F238E27FC236}">
                <a16:creationId xmlns:a16="http://schemas.microsoft.com/office/drawing/2014/main" id="{6D218485-E513-4F35-81CF-2439850B8D72}"/>
              </a:ext>
            </a:extLst>
          </p:cNvPr>
          <p:cNvSpPr>
            <a:spLocks noGrp="1"/>
          </p:cNvSpPr>
          <p:nvPr>
            <p:ph type="subTitle" idx="1"/>
          </p:nvPr>
        </p:nvSpPr>
        <p:spPr>
          <a:xfrm>
            <a:off x="1044605" y="2718785"/>
            <a:ext cx="10102789" cy="3564385"/>
          </a:xfrm>
        </p:spPr>
        <p:txBody>
          <a:bodyPr>
            <a:normAutofit/>
          </a:bodyPr>
          <a:lstStyle/>
          <a:p>
            <a:pPr algn="l"/>
            <a:r>
              <a:rPr lang="en-US" sz="3200" dirty="0"/>
              <a:t>Classification of objects from the given images using Convolutional Neural Network</a:t>
            </a:r>
          </a:p>
          <a:p>
            <a:pPr algn="l"/>
            <a:endParaRPr lang="en-IN" sz="3200" dirty="0"/>
          </a:p>
        </p:txBody>
      </p:sp>
      <p:pic>
        <p:nvPicPr>
          <p:cNvPr id="5" name="Picture 4">
            <a:extLst>
              <a:ext uri="{FF2B5EF4-FFF2-40B4-BE49-F238E27FC236}">
                <a16:creationId xmlns:a16="http://schemas.microsoft.com/office/drawing/2014/main" id="{5E4FD31A-7122-40D1-8F24-38630934B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7" name="Picture 6">
            <a:extLst>
              <a:ext uri="{FF2B5EF4-FFF2-40B4-BE49-F238E27FC236}">
                <a16:creationId xmlns:a16="http://schemas.microsoft.com/office/drawing/2014/main" id="{98543014-DDF7-44DD-8DA7-5C609C3B6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409112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B5C6-47C6-42B9-80FE-EB8B7BB913D3}"/>
              </a:ext>
            </a:extLst>
          </p:cNvPr>
          <p:cNvSpPr>
            <a:spLocks noGrp="1"/>
          </p:cNvSpPr>
          <p:nvPr>
            <p:ph type="ctrTitle"/>
          </p:nvPr>
        </p:nvSpPr>
        <p:spPr>
          <a:xfrm>
            <a:off x="1757888" y="-955227"/>
            <a:ext cx="8676222" cy="3200400"/>
          </a:xfrm>
        </p:spPr>
        <p:txBody>
          <a:bodyPr>
            <a:normAutofit/>
          </a:bodyPr>
          <a:lstStyle/>
          <a:p>
            <a:r>
              <a:rPr lang="en-US" sz="5400" b="1" dirty="0"/>
              <a:t>Basic Network Model</a:t>
            </a:r>
            <a:endParaRPr lang="en-IN" sz="5400" b="1" dirty="0"/>
          </a:p>
        </p:txBody>
      </p:sp>
      <p:pic>
        <p:nvPicPr>
          <p:cNvPr id="5" name="Picture 4">
            <a:extLst>
              <a:ext uri="{FF2B5EF4-FFF2-40B4-BE49-F238E27FC236}">
                <a16:creationId xmlns:a16="http://schemas.microsoft.com/office/drawing/2014/main" id="{5E4FD31A-7122-40D1-8F24-38630934B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7" name="Picture 6">
            <a:extLst>
              <a:ext uri="{FF2B5EF4-FFF2-40B4-BE49-F238E27FC236}">
                <a16:creationId xmlns:a16="http://schemas.microsoft.com/office/drawing/2014/main" id="{98543014-DDF7-44DD-8DA7-5C609C3B6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
        <p:nvSpPr>
          <p:cNvPr id="6" name="Rectangle: Rounded Corners 5">
            <a:extLst>
              <a:ext uri="{FF2B5EF4-FFF2-40B4-BE49-F238E27FC236}">
                <a16:creationId xmlns:a16="http://schemas.microsoft.com/office/drawing/2014/main" id="{ADC12D88-31CA-4C0A-B8E6-F0E80BA267D9}"/>
              </a:ext>
            </a:extLst>
          </p:cNvPr>
          <p:cNvSpPr/>
          <p:nvPr/>
        </p:nvSpPr>
        <p:spPr>
          <a:xfrm>
            <a:off x="1535838" y="3570154"/>
            <a:ext cx="1953087" cy="111858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Pre-processing of Dataset</a:t>
            </a:r>
            <a:endParaRPr lang="en-IN" sz="2000" dirty="0">
              <a:solidFill>
                <a:schemeClr val="tx1"/>
              </a:solidFill>
            </a:endParaRPr>
          </a:p>
        </p:txBody>
      </p:sp>
      <p:sp>
        <p:nvSpPr>
          <p:cNvPr id="8" name="Arrow: Right 7">
            <a:extLst>
              <a:ext uri="{FF2B5EF4-FFF2-40B4-BE49-F238E27FC236}">
                <a16:creationId xmlns:a16="http://schemas.microsoft.com/office/drawing/2014/main" id="{5532C3EA-23AE-4BFB-86C1-DBA5790180A7}"/>
              </a:ext>
            </a:extLst>
          </p:cNvPr>
          <p:cNvSpPr/>
          <p:nvPr/>
        </p:nvSpPr>
        <p:spPr>
          <a:xfrm>
            <a:off x="4041800" y="3983014"/>
            <a:ext cx="523783" cy="25745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ubtitle 10">
            <a:extLst>
              <a:ext uri="{FF2B5EF4-FFF2-40B4-BE49-F238E27FC236}">
                <a16:creationId xmlns:a16="http://schemas.microsoft.com/office/drawing/2014/main" id="{F5DF0E74-7417-4520-9BD0-42814FA3CB90}"/>
              </a:ext>
            </a:extLst>
          </p:cNvPr>
          <p:cNvSpPr>
            <a:spLocks noGrp="1"/>
          </p:cNvSpPr>
          <p:nvPr>
            <p:ph type="subTitle" idx="1"/>
          </p:nvPr>
        </p:nvSpPr>
        <p:spPr>
          <a:xfrm>
            <a:off x="5119455" y="3514129"/>
            <a:ext cx="1953088" cy="117461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Convolutional Neural Network</a:t>
            </a:r>
            <a:endParaRPr lang="en-IN" sz="2000" dirty="0">
              <a:solidFill>
                <a:schemeClr val="tx1"/>
              </a:solidFill>
            </a:endParaRPr>
          </a:p>
        </p:txBody>
      </p:sp>
      <p:sp>
        <p:nvSpPr>
          <p:cNvPr id="13" name="Arrow: Right 12">
            <a:extLst>
              <a:ext uri="{FF2B5EF4-FFF2-40B4-BE49-F238E27FC236}">
                <a16:creationId xmlns:a16="http://schemas.microsoft.com/office/drawing/2014/main" id="{7A14E150-4FA5-43A5-BC2C-3F985E516808}"/>
              </a:ext>
            </a:extLst>
          </p:cNvPr>
          <p:cNvSpPr/>
          <p:nvPr/>
        </p:nvSpPr>
        <p:spPr>
          <a:xfrm>
            <a:off x="7608162" y="4000721"/>
            <a:ext cx="559293" cy="25745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65D46C07-43E9-44F0-8A8A-90EF8BB6BF5F}"/>
              </a:ext>
            </a:extLst>
          </p:cNvPr>
          <p:cNvSpPr/>
          <p:nvPr/>
        </p:nvSpPr>
        <p:spPr>
          <a:xfrm>
            <a:off x="8703074" y="3524435"/>
            <a:ext cx="1953088" cy="117461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a:p>
            <a:pPr algn="ctr"/>
            <a:r>
              <a:rPr lang="en-US" dirty="0">
                <a:solidFill>
                  <a:schemeClr val="tx1"/>
                </a:solidFill>
              </a:rPr>
              <a:t>Category of the image</a:t>
            </a:r>
            <a:endParaRPr lang="en-IN" dirty="0">
              <a:solidFill>
                <a:schemeClr val="tx1"/>
              </a:solidFill>
            </a:endParaRPr>
          </a:p>
        </p:txBody>
      </p:sp>
    </p:spTree>
    <p:extLst>
      <p:ext uri="{BB962C8B-B14F-4D97-AF65-F5344CB8AC3E}">
        <p14:creationId xmlns:p14="http://schemas.microsoft.com/office/powerpoint/2010/main" val="2123431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US" b="1" dirty="0"/>
              <a:t>Dataset</a:t>
            </a:r>
            <a:endParaRPr lang="en-IN" b="1" dirty="0"/>
          </a:p>
        </p:txBody>
      </p:sp>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p:txBody>
          <a:bodyPr/>
          <a:lstStyle/>
          <a:p>
            <a:r>
              <a:rPr lang="en-US" dirty="0"/>
              <a:t>Dataset consists of 5 categories namely: Cap, </a:t>
            </a:r>
            <a:r>
              <a:rPr lang="en-US" dirty="0" err="1"/>
              <a:t>Rubiks</a:t>
            </a:r>
            <a:r>
              <a:rPr lang="en-US" dirty="0"/>
              <a:t> Cube, Playing cards, Screwdriver, Torch.</a:t>
            </a:r>
          </a:p>
          <a:p>
            <a:r>
              <a:rPr lang="en-US" dirty="0"/>
              <a:t>Each category contains around 20 images.</a:t>
            </a:r>
          </a:p>
          <a:p>
            <a:r>
              <a:rPr lang="en-US" dirty="0"/>
              <a:t>Dataset has been divided into two sets, one for training and one for validating the data.</a:t>
            </a:r>
          </a:p>
          <a:p>
            <a:endParaRPr lang="en-IN"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199977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US" b="1" dirty="0"/>
              <a:t>Dataset Samples</a:t>
            </a:r>
            <a:endParaRPr lang="en-IN" b="1"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pic>
        <p:nvPicPr>
          <p:cNvPr id="6" name="Content Placeholder 5">
            <a:extLst>
              <a:ext uri="{FF2B5EF4-FFF2-40B4-BE49-F238E27FC236}">
                <a16:creationId xmlns:a16="http://schemas.microsoft.com/office/drawing/2014/main" id="{F9BBE745-FE5F-402F-A080-B3307AAC841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13430" y="1870585"/>
            <a:ext cx="1893548" cy="1893548"/>
          </a:xfrm>
          <a:prstGeom prst="rect">
            <a:avLst/>
          </a:prstGeom>
        </p:spPr>
      </p:pic>
      <p:pic>
        <p:nvPicPr>
          <p:cNvPr id="8" name="Picture 7">
            <a:extLst>
              <a:ext uri="{FF2B5EF4-FFF2-40B4-BE49-F238E27FC236}">
                <a16:creationId xmlns:a16="http://schemas.microsoft.com/office/drawing/2014/main" id="{EF8F4808-C500-4CAA-B215-77D30DD85F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4076" y="1869287"/>
            <a:ext cx="1893549" cy="1893549"/>
          </a:xfrm>
          <a:prstGeom prst="rect">
            <a:avLst/>
          </a:prstGeom>
        </p:spPr>
      </p:pic>
      <p:pic>
        <p:nvPicPr>
          <p:cNvPr id="10" name="Picture 9">
            <a:extLst>
              <a:ext uri="{FF2B5EF4-FFF2-40B4-BE49-F238E27FC236}">
                <a16:creationId xmlns:a16="http://schemas.microsoft.com/office/drawing/2014/main" id="{67CE5229-62E4-4C5D-AA54-443A3562AF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4723" y="1869288"/>
            <a:ext cx="1893549" cy="1893549"/>
          </a:xfrm>
          <a:prstGeom prst="rect">
            <a:avLst/>
          </a:prstGeom>
        </p:spPr>
      </p:pic>
      <p:pic>
        <p:nvPicPr>
          <p:cNvPr id="12" name="Picture 11">
            <a:extLst>
              <a:ext uri="{FF2B5EF4-FFF2-40B4-BE49-F238E27FC236}">
                <a16:creationId xmlns:a16="http://schemas.microsoft.com/office/drawing/2014/main" id="{897A5A2B-5E87-4382-91C8-06A9B41D50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3639" y="1869288"/>
            <a:ext cx="1893549" cy="1893549"/>
          </a:xfrm>
          <a:prstGeom prst="rect">
            <a:avLst/>
          </a:prstGeom>
        </p:spPr>
      </p:pic>
      <p:pic>
        <p:nvPicPr>
          <p:cNvPr id="14" name="Picture 13">
            <a:extLst>
              <a:ext uri="{FF2B5EF4-FFF2-40B4-BE49-F238E27FC236}">
                <a16:creationId xmlns:a16="http://schemas.microsoft.com/office/drawing/2014/main" id="{D69FECF1-A1DF-4D47-AD29-0B2B5BC7BBB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14912" y="4330700"/>
            <a:ext cx="2162175" cy="2162175"/>
          </a:xfrm>
          <a:prstGeom prst="rect">
            <a:avLst/>
          </a:prstGeom>
        </p:spPr>
      </p:pic>
    </p:spTree>
    <p:extLst>
      <p:ext uri="{BB962C8B-B14F-4D97-AF65-F5344CB8AC3E}">
        <p14:creationId xmlns:p14="http://schemas.microsoft.com/office/powerpoint/2010/main" val="22753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US" b="1" dirty="0"/>
              <a:t>Pre-processing of Dataset</a:t>
            </a:r>
            <a:endParaRPr lang="en-IN" b="1" dirty="0"/>
          </a:p>
        </p:txBody>
      </p:sp>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p:txBody>
          <a:bodyPr>
            <a:normAutofit/>
          </a:bodyPr>
          <a:lstStyle/>
          <a:p>
            <a:r>
              <a:rPr lang="en-US" sz="2400" dirty="0"/>
              <a:t>All the images must be of same resolution.</a:t>
            </a:r>
          </a:p>
          <a:p>
            <a:r>
              <a:rPr lang="en-US" sz="2400" dirty="0"/>
              <a:t>Using </a:t>
            </a:r>
            <a:r>
              <a:rPr lang="en-IN" sz="2400" b="1" dirty="0" err="1"/>
              <a:t>augmentedImageDatastore</a:t>
            </a:r>
            <a:r>
              <a:rPr lang="en-IN" sz="2400" b="1" dirty="0"/>
              <a:t>( ) </a:t>
            </a:r>
            <a:r>
              <a:rPr lang="en-IN" sz="2400" dirty="0"/>
              <a:t>function, all the images of the dataset are resized to (227,227,3).</a:t>
            </a:r>
          </a:p>
          <a:p>
            <a:r>
              <a:rPr lang="en-IN" sz="2400" dirty="0"/>
              <a:t>70% of the dataset is used for training and the rest for validation.</a:t>
            </a:r>
          </a:p>
          <a:p>
            <a:endParaRPr lang="en-IN" sz="2400" dirty="0"/>
          </a:p>
          <a:p>
            <a:endParaRPr lang="en-IN" sz="2400" dirty="0"/>
          </a:p>
          <a:p>
            <a:endParaRPr lang="en-IN" sz="2400"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pic>
        <p:nvPicPr>
          <p:cNvPr id="6" name="Picture 5">
            <a:extLst>
              <a:ext uri="{FF2B5EF4-FFF2-40B4-BE49-F238E27FC236}">
                <a16:creationId xmlns:a16="http://schemas.microsoft.com/office/drawing/2014/main" id="{03C4A145-4C50-4C8E-94AB-808BCEA929F8}"/>
              </a:ext>
            </a:extLst>
          </p:cNvPr>
          <p:cNvPicPr>
            <a:picLocks noChangeAspect="1"/>
          </p:cNvPicPr>
          <p:nvPr/>
        </p:nvPicPr>
        <p:blipFill>
          <a:blip r:embed="rId4"/>
          <a:stretch>
            <a:fillRect/>
          </a:stretch>
        </p:blipFill>
        <p:spPr>
          <a:xfrm>
            <a:off x="2041864" y="3805007"/>
            <a:ext cx="7945515" cy="1814558"/>
          </a:xfrm>
          <a:prstGeom prst="rect">
            <a:avLst/>
          </a:prstGeom>
        </p:spPr>
      </p:pic>
    </p:spTree>
    <p:extLst>
      <p:ext uri="{BB962C8B-B14F-4D97-AF65-F5344CB8AC3E}">
        <p14:creationId xmlns:p14="http://schemas.microsoft.com/office/powerpoint/2010/main" val="188989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US" b="1" dirty="0"/>
              <a:t>About The Network</a:t>
            </a:r>
            <a:endParaRPr lang="en-IN" b="1" dirty="0"/>
          </a:p>
        </p:txBody>
      </p:sp>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p:txBody>
          <a:bodyPr>
            <a:normAutofit/>
          </a:bodyPr>
          <a:lstStyle/>
          <a:p>
            <a:r>
              <a:rPr lang="en-IN" b="1" dirty="0"/>
              <a:t>Image Input Layer</a:t>
            </a:r>
          </a:p>
          <a:p>
            <a:pPr lvl="1"/>
            <a:r>
              <a:rPr lang="en-US" sz="2000" dirty="0"/>
              <a:t>An </a:t>
            </a:r>
            <a:r>
              <a:rPr lang="en-US" sz="2000" dirty="0" err="1"/>
              <a:t>imageInputLayer</a:t>
            </a:r>
            <a:r>
              <a:rPr lang="en-US" sz="2000" dirty="0"/>
              <a:t> is where you specify the image size, which, in this case, is 227 X 227 X 3 These numbers correspond to the height, width, and the channel size.</a:t>
            </a:r>
            <a:endParaRPr lang="en-US" sz="3200" b="1" dirty="0"/>
          </a:p>
          <a:p>
            <a:pPr marL="0" indent="0">
              <a:buNone/>
            </a:pPr>
            <a:endParaRPr lang="en-IN" b="1" dirty="0"/>
          </a:p>
          <a:p>
            <a:r>
              <a:rPr lang="en-IN" b="1" dirty="0"/>
              <a:t>Convolutional Layer</a:t>
            </a:r>
          </a:p>
          <a:p>
            <a:pPr lvl="1"/>
            <a:r>
              <a:rPr lang="en-US" sz="2000" dirty="0"/>
              <a:t> In the convolutional layer, the first argument is </a:t>
            </a:r>
            <a:r>
              <a:rPr lang="en-US" sz="2000" dirty="0" err="1"/>
              <a:t>filterSize</a:t>
            </a:r>
            <a:r>
              <a:rPr lang="en-US" sz="2000" dirty="0"/>
              <a:t>, which is the height and width of the filters the training function uses while scanning along the images. In this example, the number 3 indicates that the filter size is 3-by-3. You can specify different sizes for the height and width of the filter. The second argument is the number of filters, </a:t>
            </a:r>
            <a:r>
              <a:rPr lang="en-US" sz="2000" dirty="0" err="1"/>
              <a:t>numFilters</a:t>
            </a:r>
            <a:r>
              <a:rPr lang="en-US" sz="2000" dirty="0"/>
              <a:t>, which is the number of neurons that connect to the same region of the input. </a:t>
            </a:r>
            <a:endParaRPr lang="en-IN" sz="3200" dirty="0"/>
          </a:p>
          <a:p>
            <a:pPr marL="0" indent="0">
              <a:buNone/>
            </a:pPr>
            <a:endParaRPr lang="en-IN" b="1"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375740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a:xfrm>
            <a:off x="838200" y="1154468"/>
            <a:ext cx="10515600" cy="4351338"/>
          </a:xfrm>
        </p:spPr>
        <p:txBody>
          <a:bodyPr/>
          <a:lstStyle/>
          <a:p>
            <a:r>
              <a:rPr lang="en-IN" b="1" dirty="0"/>
              <a:t>Batch Normalization Layer</a:t>
            </a:r>
            <a:r>
              <a:rPr lang="en-IN" sz="2000" dirty="0"/>
              <a:t>: </a:t>
            </a:r>
          </a:p>
          <a:p>
            <a:pPr lvl="1"/>
            <a:r>
              <a:rPr lang="en-IN" sz="2000" dirty="0"/>
              <a:t>Batch </a:t>
            </a:r>
            <a:r>
              <a:rPr lang="en-US" sz="2000" dirty="0"/>
              <a:t>normalization layers normalize the activations and gradients propagating through a network, making network training an easier optimization problem. Use batch normalization layers between convolutional layers and nonlinearities, such as </a:t>
            </a:r>
            <a:r>
              <a:rPr lang="en-US" sz="2000" dirty="0" err="1"/>
              <a:t>ReLU</a:t>
            </a:r>
            <a:r>
              <a:rPr lang="en-US" sz="2000" dirty="0"/>
              <a:t> layers, to speed up network training and reduce the sensitivity to network initialization. Use </a:t>
            </a:r>
            <a:r>
              <a:rPr lang="en-US" sz="2000" dirty="0" err="1"/>
              <a:t>batchNormalizationLayer</a:t>
            </a:r>
            <a:r>
              <a:rPr lang="en-US" sz="2000" dirty="0"/>
              <a:t> to create a batch normalization layer.</a:t>
            </a:r>
          </a:p>
          <a:p>
            <a:pPr lvl="1"/>
            <a:endParaRPr lang="en-US" sz="2000" dirty="0"/>
          </a:p>
          <a:p>
            <a:r>
              <a:rPr lang="en-US" b="1" dirty="0" err="1"/>
              <a:t>Relu</a:t>
            </a:r>
            <a:r>
              <a:rPr lang="en-US" b="1" dirty="0"/>
              <a:t> Layer:</a:t>
            </a:r>
          </a:p>
          <a:p>
            <a:pPr lvl="1"/>
            <a:r>
              <a:rPr lang="en-US" sz="2000" dirty="0"/>
              <a:t>The batch normalization layer is followed by a nonlinear activation function. The most common activation function is the rectified linear unit (</a:t>
            </a:r>
            <a:r>
              <a:rPr lang="en-US" sz="2000" dirty="0" err="1"/>
              <a:t>ReLU</a:t>
            </a:r>
            <a:r>
              <a:rPr lang="en-US" sz="2000" dirty="0"/>
              <a:t>). Use </a:t>
            </a:r>
            <a:r>
              <a:rPr lang="en-US" sz="2000" dirty="0" err="1"/>
              <a:t>reluLayer</a:t>
            </a:r>
            <a:r>
              <a:rPr lang="en-US" sz="2000" dirty="0"/>
              <a:t> to create a </a:t>
            </a:r>
            <a:r>
              <a:rPr lang="en-US" sz="2000" dirty="0" err="1"/>
              <a:t>ReLU</a:t>
            </a:r>
            <a:r>
              <a:rPr lang="en-US" sz="2000" dirty="0"/>
              <a:t> layer.</a:t>
            </a:r>
            <a:endParaRPr lang="en-US" sz="1400"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3125080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a:xfrm>
            <a:off x="838200" y="1154468"/>
            <a:ext cx="10515600" cy="4351338"/>
          </a:xfrm>
        </p:spPr>
        <p:txBody>
          <a:bodyPr>
            <a:normAutofit/>
          </a:bodyPr>
          <a:lstStyle/>
          <a:p>
            <a:r>
              <a:rPr lang="en-IN" b="1" dirty="0"/>
              <a:t>Max Pooling Layer:</a:t>
            </a:r>
          </a:p>
          <a:p>
            <a:pPr lvl="1"/>
            <a:r>
              <a:rPr lang="en-US" b="1" dirty="0"/>
              <a:t> </a:t>
            </a:r>
            <a:r>
              <a:rPr lang="en-US" sz="2000" dirty="0"/>
              <a:t>Convolutional layers (with activation functions) are sometimes followed by a down-sampling operation that reduces the spatial size of the feature map and removes redundant spatial information. Down-sampling makes it possible to increase the number of filters in deeper convolutional layers without increasing the required amount of computation per layer. One way of down-sampling is using a max pooling, which you create using maxPooling2dLayer. </a:t>
            </a:r>
          </a:p>
          <a:p>
            <a:r>
              <a:rPr lang="en-US" b="1" dirty="0"/>
              <a:t>Fully Connected Layer</a:t>
            </a:r>
            <a:r>
              <a:rPr lang="en-US" dirty="0"/>
              <a:t>:</a:t>
            </a:r>
          </a:p>
          <a:p>
            <a:pPr lvl="1"/>
            <a:r>
              <a:rPr lang="en-US" sz="2000" dirty="0"/>
              <a:t>The convolutional and down-sampling layers are followed by one or more fully connected layers. As its name suggests, a fully connected layer is a layer in which the neurons connect to all the neurons in the preceding layer. This layer combines all the features learned by the previous layers across the image to identify the larger patterns. The last fully connected layer combines the features to classify the images. Therefore, the </a:t>
            </a:r>
            <a:r>
              <a:rPr lang="en-US" sz="2000" dirty="0" err="1"/>
              <a:t>OutputSize</a:t>
            </a:r>
            <a:r>
              <a:rPr lang="en-US" sz="2000" dirty="0"/>
              <a:t> parameter in the last fully connected layer is equal to the number of classes in the target data</a:t>
            </a:r>
            <a:r>
              <a:rPr lang="en-US" dirty="0"/>
              <a:t>.</a:t>
            </a:r>
            <a:endParaRPr lang="en-IN"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283286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a:xfrm>
            <a:off x="838200" y="1154468"/>
            <a:ext cx="10515600" cy="4351338"/>
          </a:xfrm>
        </p:spPr>
        <p:txBody>
          <a:bodyPr/>
          <a:lstStyle/>
          <a:p>
            <a:r>
              <a:rPr lang="en-IN" b="1" dirty="0" err="1"/>
              <a:t>Softmax</a:t>
            </a:r>
            <a:r>
              <a:rPr lang="en-IN" b="1" dirty="0"/>
              <a:t> Layer:</a:t>
            </a:r>
          </a:p>
          <a:p>
            <a:pPr lvl="1"/>
            <a:r>
              <a:rPr lang="en-US" sz="2000" dirty="0"/>
              <a:t>The </a:t>
            </a:r>
            <a:r>
              <a:rPr lang="en-US" sz="2000" dirty="0" err="1"/>
              <a:t>softmax</a:t>
            </a:r>
            <a:r>
              <a:rPr lang="en-US" sz="2000" dirty="0"/>
              <a:t> activation function normalizes the output of the fully connected layer. The output of the </a:t>
            </a:r>
            <a:r>
              <a:rPr lang="en-US" sz="2000" dirty="0" err="1"/>
              <a:t>softmax</a:t>
            </a:r>
            <a:r>
              <a:rPr lang="en-US" sz="2000" dirty="0"/>
              <a:t> layer consists of positive numbers that sum to one, which can then be used as classification probabilities by the classification layer. Create a </a:t>
            </a:r>
            <a:r>
              <a:rPr lang="en-US" sz="2000" dirty="0" err="1"/>
              <a:t>softmax</a:t>
            </a:r>
            <a:r>
              <a:rPr lang="en-US" sz="2000" dirty="0"/>
              <a:t> layer using the </a:t>
            </a:r>
            <a:r>
              <a:rPr lang="en-US" sz="2000" dirty="0" err="1"/>
              <a:t>softmaxLayer</a:t>
            </a:r>
            <a:r>
              <a:rPr lang="en-US" sz="2000" dirty="0"/>
              <a:t> function after the last fully connected layer.</a:t>
            </a:r>
          </a:p>
          <a:p>
            <a:endParaRPr lang="en-US" sz="2400" dirty="0"/>
          </a:p>
          <a:p>
            <a:r>
              <a:rPr lang="en-US" b="1" dirty="0"/>
              <a:t>Classification Layer:</a:t>
            </a:r>
          </a:p>
          <a:p>
            <a:pPr lvl="1"/>
            <a:r>
              <a:rPr lang="en-US" sz="2000" dirty="0"/>
              <a:t>The final layer is the classification layer. This layer uses the probabilities returned by the </a:t>
            </a:r>
            <a:r>
              <a:rPr lang="en-US" sz="2000" dirty="0" err="1"/>
              <a:t>softmax</a:t>
            </a:r>
            <a:r>
              <a:rPr lang="en-US" sz="2000" dirty="0"/>
              <a:t> activation function for each input to assign the input to one of the mutually exclusive classes and compute the loss. To create a classification layer, use </a:t>
            </a:r>
            <a:r>
              <a:rPr lang="en-US" sz="2000" dirty="0" err="1"/>
              <a:t>classificationLayer</a:t>
            </a:r>
            <a:r>
              <a:rPr lang="en-US" sz="2000" dirty="0"/>
              <a:t>.</a:t>
            </a:r>
            <a:endParaRPr lang="en-IN" sz="2000"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1517814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IN" b="1" dirty="0"/>
              <a:t>Training the Network</a:t>
            </a:r>
          </a:p>
        </p:txBody>
      </p:sp>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pic>
        <p:nvPicPr>
          <p:cNvPr id="8" name="Picture 7">
            <a:extLst>
              <a:ext uri="{FF2B5EF4-FFF2-40B4-BE49-F238E27FC236}">
                <a16:creationId xmlns:a16="http://schemas.microsoft.com/office/drawing/2014/main" id="{EFB36136-B75E-4990-8151-129FCDFE9565}"/>
              </a:ext>
            </a:extLst>
          </p:cNvPr>
          <p:cNvPicPr>
            <a:picLocks noChangeAspect="1"/>
          </p:cNvPicPr>
          <p:nvPr/>
        </p:nvPicPr>
        <p:blipFill>
          <a:blip r:embed="rId4"/>
          <a:stretch>
            <a:fillRect/>
          </a:stretch>
        </p:blipFill>
        <p:spPr>
          <a:xfrm>
            <a:off x="838199" y="1870584"/>
            <a:ext cx="6000203" cy="3722348"/>
          </a:xfrm>
          <a:prstGeom prst="rect">
            <a:avLst/>
          </a:prstGeom>
        </p:spPr>
      </p:pic>
    </p:spTree>
    <p:extLst>
      <p:ext uri="{BB962C8B-B14F-4D97-AF65-F5344CB8AC3E}">
        <p14:creationId xmlns:p14="http://schemas.microsoft.com/office/powerpoint/2010/main" val="1001443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pic>
        <p:nvPicPr>
          <p:cNvPr id="6" name="Picture 5">
            <a:extLst>
              <a:ext uri="{FF2B5EF4-FFF2-40B4-BE49-F238E27FC236}">
                <a16:creationId xmlns:a16="http://schemas.microsoft.com/office/drawing/2014/main" id="{147123E6-8528-41AD-887C-7D6419713939}"/>
              </a:ext>
            </a:extLst>
          </p:cNvPr>
          <p:cNvPicPr>
            <a:picLocks noChangeAspect="1"/>
          </p:cNvPicPr>
          <p:nvPr/>
        </p:nvPicPr>
        <p:blipFill>
          <a:blip r:embed="rId4"/>
          <a:stretch>
            <a:fillRect/>
          </a:stretch>
        </p:blipFill>
        <p:spPr>
          <a:xfrm>
            <a:off x="550924" y="1154468"/>
            <a:ext cx="10975759" cy="5493663"/>
          </a:xfrm>
          <a:prstGeom prst="rect">
            <a:avLst/>
          </a:prstGeom>
        </p:spPr>
      </p:pic>
    </p:spTree>
    <p:extLst>
      <p:ext uri="{BB962C8B-B14F-4D97-AF65-F5344CB8AC3E}">
        <p14:creationId xmlns:p14="http://schemas.microsoft.com/office/powerpoint/2010/main" val="3538701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pic>
        <p:nvPicPr>
          <p:cNvPr id="7" name="Picture 6">
            <a:extLst>
              <a:ext uri="{FF2B5EF4-FFF2-40B4-BE49-F238E27FC236}">
                <a16:creationId xmlns:a16="http://schemas.microsoft.com/office/drawing/2014/main" id="{F09C449A-F1B9-41FF-8DF7-7CEE6308B895}"/>
              </a:ext>
            </a:extLst>
          </p:cNvPr>
          <p:cNvPicPr>
            <a:picLocks noChangeAspect="1"/>
          </p:cNvPicPr>
          <p:nvPr/>
        </p:nvPicPr>
        <p:blipFill>
          <a:blip r:embed="rId4"/>
          <a:stretch>
            <a:fillRect/>
          </a:stretch>
        </p:blipFill>
        <p:spPr>
          <a:xfrm>
            <a:off x="155822" y="1154468"/>
            <a:ext cx="11439525" cy="3305175"/>
          </a:xfrm>
          <a:prstGeom prst="rect">
            <a:avLst/>
          </a:prstGeom>
        </p:spPr>
      </p:pic>
      <p:pic>
        <p:nvPicPr>
          <p:cNvPr id="8" name="Picture 7">
            <a:extLst>
              <a:ext uri="{FF2B5EF4-FFF2-40B4-BE49-F238E27FC236}">
                <a16:creationId xmlns:a16="http://schemas.microsoft.com/office/drawing/2014/main" id="{227208E7-A33B-4D60-B706-B6897D1FDCE4}"/>
              </a:ext>
            </a:extLst>
          </p:cNvPr>
          <p:cNvPicPr>
            <a:picLocks noChangeAspect="1"/>
          </p:cNvPicPr>
          <p:nvPr/>
        </p:nvPicPr>
        <p:blipFill>
          <a:blip r:embed="rId5"/>
          <a:stretch>
            <a:fillRect/>
          </a:stretch>
        </p:blipFill>
        <p:spPr>
          <a:xfrm>
            <a:off x="155822" y="3717943"/>
            <a:ext cx="7342694" cy="834130"/>
          </a:xfrm>
          <a:prstGeom prst="rect">
            <a:avLst/>
          </a:prstGeom>
        </p:spPr>
      </p:pic>
      <p:pic>
        <p:nvPicPr>
          <p:cNvPr id="9" name="Picture 8">
            <a:extLst>
              <a:ext uri="{FF2B5EF4-FFF2-40B4-BE49-F238E27FC236}">
                <a16:creationId xmlns:a16="http://schemas.microsoft.com/office/drawing/2014/main" id="{CF4BC63A-0427-4277-AC15-C74DD271D8CB}"/>
              </a:ext>
            </a:extLst>
          </p:cNvPr>
          <p:cNvPicPr>
            <a:picLocks noChangeAspect="1"/>
          </p:cNvPicPr>
          <p:nvPr/>
        </p:nvPicPr>
        <p:blipFill>
          <a:blip r:embed="rId6"/>
          <a:stretch>
            <a:fillRect/>
          </a:stretch>
        </p:blipFill>
        <p:spPr>
          <a:xfrm>
            <a:off x="155822" y="5345468"/>
            <a:ext cx="1343025" cy="923925"/>
          </a:xfrm>
          <a:prstGeom prst="rect">
            <a:avLst/>
          </a:prstGeom>
        </p:spPr>
      </p:pic>
    </p:spTree>
    <p:extLst>
      <p:ext uri="{BB962C8B-B14F-4D97-AF65-F5344CB8AC3E}">
        <p14:creationId xmlns:p14="http://schemas.microsoft.com/office/powerpoint/2010/main" val="919960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IN" b="1" dirty="0"/>
              <a:t>Testing the Network</a:t>
            </a:r>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
        <p:nvSpPr>
          <p:cNvPr id="8" name="TextBox 7">
            <a:extLst>
              <a:ext uri="{FF2B5EF4-FFF2-40B4-BE49-F238E27FC236}">
                <a16:creationId xmlns:a16="http://schemas.microsoft.com/office/drawing/2014/main" id="{B7F8B3B4-1046-4DF1-87AE-EF5B20B62108}"/>
              </a:ext>
            </a:extLst>
          </p:cNvPr>
          <p:cNvSpPr txBox="1"/>
          <p:nvPr/>
        </p:nvSpPr>
        <p:spPr>
          <a:xfrm flipH="1">
            <a:off x="1392352" y="4666249"/>
            <a:ext cx="1383587" cy="369332"/>
          </a:xfrm>
          <a:prstGeom prst="rect">
            <a:avLst/>
          </a:prstGeom>
          <a:noFill/>
        </p:spPr>
        <p:txBody>
          <a:bodyPr wrap="square" rtlCol="0">
            <a:spAutoFit/>
          </a:bodyPr>
          <a:lstStyle/>
          <a:p>
            <a:r>
              <a:rPr lang="en-IN" dirty="0"/>
              <a:t>Input Image</a:t>
            </a:r>
          </a:p>
        </p:txBody>
      </p:sp>
      <p:pic>
        <p:nvPicPr>
          <p:cNvPr id="11" name="Content Placeholder 10">
            <a:extLst>
              <a:ext uri="{FF2B5EF4-FFF2-40B4-BE49-F238E27FC236}">
                <a16:creationId xmlns:a16="http://schemas.microsoft.com/office/drawing/2014/main" id="{55A4F513-D4C4-48A6-B90A-56720E2E34F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88636" y="2347912"/>
            <a:ext cx="2162175" cy="2162175"/>
          </a:xfrm>
        </p:spPr>
      </p:pic>
      <p:pic>
        <p:nvPicPr>
          <p:cNvPr id="12" name="Picture 11">
            <a:extLst>
              <a:ext uri="{FF2B5EF4-FFF2-40B4-BE49-F238E27FC236}">
                <a16:creationId xmlns:a16="http://schemas.microsoft.com/office/drawing/2014/main" id="{1D5376F3-CD8E-456A-BC6E-938FB8D637F7}"/>
              </a:ext>
            </a:extLst>
          </p:cNvPr>
          <p:cNvPicPr>
            <a:picLocks noChangeAspect="1"/>
          </p:cNvPicPr>
          <p:nvPr/>
        </p:nvPicPr>
        <p:blipFill>
          <a:blip r:embed="rId5"/>
          <a:stretch>
            <a:fillRect/>
          </a:stretch>
        </p:blipFill>
        <p:spPr>
          <a:xfrm>
            <a:off x="5213827" y="1952624"/>
            <a:ext cx="5191125" cy="2952750"/>
          </a:xfrm>
          <a:prstGeom prst="rect">
            <a:avLst/>
          </a:prstGeom>
        </p:spPr>
      </p:pic>
    </p:spTree>
    <p:extLst>
      <p:ext uri="{BB962C8B-B14F-4D97-AF65-F5344CB8AC3E}">
        <p14:creationId xmlns:p14="http://schemas.microsoft.com/office/powerpoint/2010/main" val="3320692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p:txBody>
          <a:bodyPr/>
          <a:lstStyle/>
          <a:p>
            <a:pPr algn="ctr"/>
            <a:r>
              <a:rPr lang="en-IN" b="1" dirty="0"/>
              <a:t>Applications</a:t>
            </a:r>
          </a:p>
        </p:txBody>
      </p:sp>
      <p:sp>
        <p:nvSpPr>
          <p:cNvPr id="3" name="Content Placeholder 2">
            <a:extLst>
              <a:ext uri="{FF2B5EF4-FFF2-40B4-BE49-F238E27FC236}">
                <a16:creationId xmlns:a16="http://schemas.microsoft.com/office/drawing/2014/main" id="{FA361088-B5E1-4D8C-B0DF-25880ACCF655}"/>
              </a:ext>
            </a:extLst>
          </p:cNvPr>
          <p:cNvSpPr>
            <a:spLocks noGrp="1"/>
          </p:cNvSpPr>
          <p:nvPr>
            <p:ph idx="1"/>
          </p:nvPr>
        </p:nvSpPr>
        <p:spPr/>
        <p:txBody>
          <a:bodyPr/>
          <a:lstStyle/>
          <a:p>
            <a:r>
              <a:rPr lang="en-IN" dirty="0"/>
              <a:t>Real time Identification of Objects</a:t>
            </a:r>
          </a:p>
          <a:p>
            <a:r>
              <a:rPr lang="en-IN" dirty="0"/>
              <a:t>Self Driving cars</a:t>
            </a:r>
          </a:p>
          <a:p>
            <a:endParaRPr lang="en-IN" dirty="0"/>
          </a:p>
          <a:p>
            <a:pPr marL="0" indent="0">
              <a:buNone/>
            </a:pPr>
            <a:endParaRPr lang="en-IN" b="1" dirty="0"/>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540241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282C-D3C8-4CD4-B450-67D671AF8C4D}"/>
              </a:ext>
            </a:extLst>
          </p:cNvPr>
          <p:cNvSpPr>
            <a:spLocks noGrp="1"/>
          </p:cNvSpPr>
          <p:nvPr>
            <p:ph type="title"/>
          </p:nvPr>
        </p:nvSpPr>
        <p:spPr>
          <a:xfrm>
            <a:off x="1111190" y="2476500"/>
            <a:ext cx="9905998" cy="1905000"/>
          </a:xfrm>
        </p:spPr>
        <p:txBody>
          <a:bodyPr>
            <a:normAutofit/>
          </a:bodyPr>
          <a:lstStyle/>
          <a:p>
            <a:pPr algn="ctr"/>
            <a:r>
              <a:rPr lang="en-IN" sz="4800" b="1" dirty="0"/>
              <a:t>Thank YOU</a:t>
            </a:r>
          </a:p>
        </p:txBody>
      </p:sp>
      <p:pic>
        <p:nvPicPr>
          <p:cNvPr id="4" name="Picture 3">
            <a:extLst>
              <a:ext uri="{FF2B5EF4-FFF2-40B4-BE49-F238E27FC236}">
                <a16:creationId xmlns:a16="http://schemas.microsoft.com/office/drawing/2014/main" id="{7090872B-4844-47CA-8809-000B1A632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2" y="185229"/>
            <a:ext cx="1694474" cy="969239"/>
          </a:xfrm>
          <a:prstGeom prst="rect">
            <a:avLst/>
          </a:prstGeom>
        </p:spPr>
      </p:pic>
      <p:pic>
        <p:nvPicPr>
          <p:cNvPr id="5" name="Picture 4">
            <a:extLst>
              <a:ext uri="{FF2B5EF4-FFF2-40B4-BE49-F238E27FC236}">
                <a16:creationId xmlns:a16="http://schemas.microsoft.com/office/drawing/2014/main" id="{DE71357D-705A-4065-821F-593931AD0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188" y="135478"/>
            <a:ext cx="1018990" cy="1018990"/>
          </a:xfrm>
          <a:prstGeom prst="rect">
            <a:avLst/>
          </a:prstGeom>
        </p:spPr>
      </p:pic>
    </p:spTree>
    <p:extLst>
      <p:ext uri="{BB962C8B-B14F-4D97-AF65-F5344CB8AC3E}">
        <p14:creationId xmlns:p14="http://schemas.microsoft.com/office/powerpoint/2010/main" val="11196586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Mesh</Template>
  <TotalTime>445</TotalTime>
  <Words>673</Words>
  <Application>Microsoft Office PowerPoint</Application>
  <PresentationFormat>Widescreen</PresentationFormat>
  <Paragraphs>55</Paragraphs>
  <Slides>16</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Arial</vt:lpstr>
      <vt:lpstr>Calibri</vt:lpstr>
      <vt:lpstr>Calibri Light</vt:lpstr>
      <vt:lpstr>Century Gothic</vt:lpstr>
      <vt:lpstr>1_Mesh</vt:lpstr>
      <vt:lpstr>Office Theme</vt:lpstr>
      <vt:lpstr>Mesh</vt:lpstr>
      <vt:lpstr>Artificial Neural networks</vt:lpstr>
      <vt:lpstr>Problem Statement</vt:lpstr>
      <vt:lpstr>Basic Network Model</vt:lpstr>
      <vt:lpstr>Dataset</vt:lpstr>
      <vt:lpstr>Dataset Samples</vt:lpstr>
      <vt:lpstr>Pre-processing of Dataset</vt:lpstr>
      <vt:lpstr>About The Network</vt:lpstr>
      <vt:lpstr>PowerPoint Presentation</vt:lpstr>
      <vt:lpstr>PowerPoint Presentation</vt:lpstr>
      <vt:lpstr>PowerPoint Presentation</vt:lpstr>
      <vt:lpstr>Training the Network</vt:lpstr>
      <vt:lpstr>PowerPoint Presentation</vt:lpstr>
      <vt:lpstr>PowerPoint Presentation</vt:lpstr>
      <vt:lpstr>Testing the Network</vt:lpstr>
      <vt:lpstr>Applications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Neural networks</dc:title>
  <dc:creator>sahil</dc:creator>
  <cp:lastModifiedBy>sahil</cp:lastModifiedBy>
  <cp:revision>24</cp:revision>
  <dcterms:created xsi:type="dcterms:W3CDTF">2019-11-21T03:27:35Z</dcterms:created>
  <dcterms:modified xsi:type="dcterms:W3CDTF">2019-11-23T03:27:27Z</dcterms:modified>
</cp:coreProperties>
</file>